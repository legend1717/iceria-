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73" r:id="rId5"/>
    <p:sldId id="270" r:id="rId6"/>
    <p:sldId id="271" r:id="rId7"/>
    <p:sldId id="259" r:id="rId8"/>
    <p:sldId id="260" r:id="rId9"/>
    <p:sldId id="274" r:id="rId10"/>
    <p:sldId id="275" r:id="rId11"/>
    <p:sldId id="276" r:id="rId12"/>
    <p:sldId id="272" r:id="rId13"/>
    <p:sldId id="277" r:id="rId14"/>
    <p:sldId id="261" r:id="rId15"/>
    <p:sldId id="263" r:id="rId16"/>
    <p:sldId id="264" r:id="rId17"/>
    <p:sldId id="278" r:id="rId18"/>
    <p:sldId id="265" r:id="rId19"/>
    <p:sldId id="266" r:id="rId20"/>
    <p:sldId id="267" r:id="rId21"/>
    <p:sldId id="279" r:id="rId22"/>
    <p:sldId id="280" r:id="rId23"/>
    <p:sldId id="268" r:id="rId24"/>
    <p:sldId id="269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AD52A-ED18-4B16-8F9A-17954F13A980}" type="datetimeFigureOut">
              <a:rPr lang="en-GB" smtClean="0"/>
              <a:t>24/10/2019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0B83C-4941-40AC-A8AF-D5F5D59938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6847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AD52A-ED18-4B16-8F9A-17954F13A980}" type="datetimeFigureOut">
              <a:rPr lang="en-GB" smtClean="0"/>
              <a:t>24/10/2019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0B83C-4941-40AC-A8AF-D5F5D59938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5329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AD52A-ED18-4B16-8F9A-17954F13A980}" type="datetimeFigureOut">
              <a:rPr lang="en-GB" smtClean="0"/>
              <a:t>24/10/2019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0B83C-4941-40AC-A8AF-D5F5D59938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0975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AD52A-ED18-4B16-8F9A-17954F13A980}" type="datetimeFigureOut">
              <a:rPr lang="en-GB" smtClean="0"/>
              <a:t>24/10/2019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0B83C-4941-40AC-A8AF-D5F5D59938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0773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AD52A-ED18-4B16-8F9A-17954F13A980}" type="datetimeFigureOut">
              <a:rPr lang="en-GB" smtClean="0"/>
              <a:t>24/10/2019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0B83C-4941-40AC-A8AF-D5F5D59938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4771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AD52A-ED18-4B16-8F9A-17954F13A980}" type="datetimeFigureOut">
              <a:rPr lang="en-GB" smtClean="0"/>
              <a:t>24/10/2019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0B83C-4941-40AC-A8AF-D5F5D59938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9690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AD52A-ED18-4B16-8F9A-17954F13A980}" type="datetimeFigureOut">
              <a:rPr lang="en-GB" smtClean="0"/>
              <a:t>24/10/2019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0B83C-4941-40AC-A8AF-D5F5D59938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483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AD52A-ED18-4B16-8F9A-17954F13A980}" type="datetimeFigureOut">
              <a:rPr lang="en-GB" smtClean="0"/>
              <a:t>24/10/2019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0B83C-4941-40AC-A8AF-D5F5D59938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9415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AD52A-ED18-4B16-8F9A-17954F13A980}" type="datetimeFigureOut">
              <a:rPr lang="en-GB" smtClean="0"/>
              <a:t>24/10/2019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0B83C-4941-40AC-A8AF-D5F5D59938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8725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AD52A-ED18-4B16-8F9A-17954F13A980}" type="datetimeFigureOut">
              <a:rPr lang="en-GB" smtClean="0"/>
              <a:t>24/10/2019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0B83C-4941-40AC-A8AF-D5F5D59938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4491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AD52A-ED18-4B16-8F9A-17954F13A980}" type="datetimeFigureOut">
              <a:rPr lang="en-GB" smtClean="0"/>
              <a:t>24/10/2019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0B83C-4941-40AC-A8AF-D5F5D59938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3489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2AD52A-ED18-4B16-8F9A-17954F13A980}" type="datetimeFigureOut">
              <a:rPr lang="en-GB" smtClean="0"/>
              <a:t>24/10/2019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0B83C-4941-40AC-A8AF-D5F5D59938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6230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loogunsumi@iart.gov.ng" TargetMode="External"/><Relationship Id="rId2" Type="http://schemas.openxmlformats.org/officeDocument/2006/relationships/hyperlink" Target="mailto:lucyogunsumi2011@gmail.com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www.loogunsumi.agr.ng/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Health" TargetMode="External"/><Relationship Id="rId3" Type="http://schemas.openxmlformats.org/officeDocument/2006/relationships/hyperlink" Target="https://en.wikipedia.org/wiki/Farmer" TargetMode="External"/><Relationship Id="rId7" Type="http://schemas.openxmlformats.org/officeDocument/2006/relationships/hyperlink" Target="https://en.wikipedia.org/wiki/Agricultural_marketing" TargetMode="External"/><Relationship Id="rId2" Type="http://schemas.openxmlformats.org/officeDocument/2006/relationships/hyperlink" Target="https://en.wikipedia.org/wiki/Agricultura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Agriculture" TargetMode="External"/><Relationship Id="rId5" Type="http://schemas.openxmlformats.org/officeDocument/2006/relationships/hyperlink" Target="https://en.wikipedia.org/wiki/Rural_area" TargetMode="External"/><Relationship Id="rId4" Type="http://schemas.openxmlformats.org/officeDocument/2006/relationships/hyperlink" Target="https://en.wikipedia.org/wiki/Education" TargetMode="External"/><Relationship Id="rId9" Type="http://schemas.openxmlformats.org/officeDocument/2006/relationships/hyperlink" Target="https://en.wikipedia.org/wiki/Business_studies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Green_Revolution" TargetMode="External"/><Relationship Id="rId2" Type="http://schemas.openxmlformats.org/officeDocument/2006/relationships/hyperlink" Target="https://en.wikipedia.org/wiki/World_Bank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Sustainability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Experiential_learning" TargetMode="External"/><Relationship Id="rId2" Type="http://schemas.openxmlformats.org/officeDocument/2006/relationships/hyperlink" Target="https://en.wikipedia.org/wiki/Empowerment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Participatory_technology_development" TargetMode="External"/><Relationship Id="rId4" Type="http://schemas.openxmlformats.org/officeDocument/2006/relationships/hyperlink" Target="https://en.wikipedia.org/wiki/Farmer_Field_Schools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504" y="476672"/>
            <a:ext cx="8568952" cy="2304257"/>
          </a:xfrm>
        </p:spPr>
        <p:txBody>
          <a:bodyPr>
            <a:normAutofit/>
          </a:bodyPr>
          <a:lstStyle/>
          <a:p>
            <a:r>
              <a:rPr lang="en-NZ" dirty="0"/>
              <a:t>RESEARCH AND INNOVATION: HOW RESEARCH OUTCOMES REACH FARMERS AND MARKET PLACE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5576" y="3886200"/>
            <a:ext cx="7776864" cy="2495128"/>
          </a:xfrm>
        </p:spPr>
        <p:txBody>
          <a:bodyPr>
            <a:normAutofit fontScale="47500" lnSpcReduction="20000"/>
          </a:bodyPr>
          <a:lstStyle/>
          <a:p>
            <a:r>
              <a:rPr lang="en-GB" dirty="0" smtClean="0"/>
              <a:t>Presentation at the </a:t>
            </a:r>
            <a:r>
              <a:rPr lang="en-US" b="1" dirty="0" smtClean="0"/>
              <a:t> </a:t>
            </a:r>
            <a:r>
              <a:rPr lang="en-US" b="1" dirty="0"/>
              <a:t>International Conference &amp; Expo on Research Innovations in Agriculture; at the Nigerian Institute of International Affairs, Victoria Island, Lagos, on October 24, 2019.</a:t>
            </a:r>
            <a:endParaRPr lang="en-US" dirty="0"/>
          </a:p>
          <a:p>
            <a:endParaRPr lang="en-GB" dirty="0" smtClean="0"/>
          </a:p>
          <a:p>
            <a:r>
              <a:rPr lang="en-GB" dirty="0" smtClean="0"/>
              <a:t>By</a:t>
            </a:r>
          </a:p>
          <a:p>
            <a:r>
              <a:rPr lang="en-US" b="1" dirty="0"/>
              <a:t>Prof. Lucia Omobolanle OGUNSUMI</a:t>
            </a:r>
            <a:endParaRPr lang="en-US" dirty="0"/>
          </a:p>
          <a:p>
            <a:r>
              <a:rPr lang="en-US" dirty="0"/>
              <a:t>Institute of Agricultural Research Training, </a:t>
            </a:r>
            <a:r>
              <a:rPr lang="en-US" dirty="0" err="1"/>
              <a:t>Obafemi</a:t>
            </a:r>
            <a:r>
              <a:rPr lang="en-US" dirty="0"/>
              <a:t> </a:t>
            </a:r>
            <a:r>
              <a:rPr lang="en-US" dirty="0" err="1"/>
              <a:t>Awolowo</a:t>
            </a:r>
            <a:r>
              <a:rPr lang="en-US" dirty="0"/>
              <a:t> University, Ibadan, Nigeria</a:t>
            </a:r>
          </a:p>
          <a:p>
            <a:r>
              <a:rPr lang="en-US" dirty="0"/>
              <a:t> +2348037173993; </a:t>
            </a:r>
            <a:r>
              <a:rPr lang="x-none" u="sng" dirty="0" smtClean="0">
                <a:hlinkClick r:id="rId2"/>
              </a:rPr>
              <a:t>lucyogunsumi2011@gmail.com</a:t>
            </a:r>
            <a:r>
              <a:rPr lang="en-US" dirty="0"/>
              <a:t>; </a:t>
            </a:r>
            <a:r>
              <a:rPr lang="en-US" u="sng" dirty="0" smtClean="0">
                <a:hlinkClick r:id="rId3"/>
              </a:rPr>
              <a:t>loogunsumi@iart.gov.ng</a:t>
            </a:r>
            <a:endParaRPr lang="en-US" dirty="0"/>
          </a:p>
          <a:p>
            <a:r>
              <a:rPr lang="en-US" u="sng" dirty="0" smtClean="0">
                <a:hlinkClick r:id="rId4"/>
              </a:rPr>
              <a:t>www.loogunsumi.agr.ng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2932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Contents of Discussion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4925144"/>
          </a:xfrm>
        </p:spPr>
        <p:txBody>
          <a:bodyPr/>
          <a:lstStyle/>
          <a:p>
            <a:r>
              <a:rPr lang="en-GB" dirty="0" smtClean="0"/>
              <a:t>Brief introduction and objectives of the paper</a:t>
            </a:r>
          </a:p>
          <a:p>
            <a:r>
              <a:rPr lang="en-NZ" dirty="0"/>
              <a:t>Extension New </a:t>
            </a:r>
            <a:r>
              <a:rPr lang="en-NZ" dirty="0" smtClean="0"/>
              <a:t>Approaches</a:t>
            </a:r>
          </a:p>
          <a:p>
            <a:r>
              <a:rPr lang="en-US" dirty="0"/>
              <a:t>Paradigms of agricultural extension</a:t>
            </a:r>
          </a:p>
          <a:p>
            <a:pPr algn="just"/>
            <a:r>
              <a:rPr lang="en-US" dirty="0"/>
              <a:t>Agricultural Extension Planning </a:t>
            </a:r>
            <a:r>
              <a:rPr lang="en-US" dirty="0" smtClean="0"/>
              <a:t>Process</a:t>
            </a:r>
          </a:p>
          <a:p>
            <a:pPr algn="just"/>
            <a:r>
              <a:rPr lang="en-GB" dirty="0" smtClean="0"/>
              <a:t>Research Outcomes: On-Station /Farm Trials </a:t>
            </a:r>
          </a:p>
          <a:p>
            <a:pPr algn="just"/>
            <a:r>
              <a:rPr lang="en-GB" dirty="0" smtClean="0"/>
              <a:t>Research- Extension Farmers Linkage</a:t>
            </a:r>
          </a:p>
          <a:p>
            <a:pPr algn="just"/>
            <a:r>
              <a:rPr lang="en-GB" dirty="0" smtClean="0"/>
              <a:t>Conclusion</a:t>
            </a:r>
          </a:p>
          <a:p>
            <a:pPr marL="0" indent="0" algn="just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73879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864096"/>
          </a:xfrm>
        </p:spPr>
        <p:txBody>
          <a:bodyPr>
            <a:normAutofit/>
          </a:bodyPr>
          <a:lstStyle/>
          <a:p>
            <a:r>
              <a:rPr lang="en-NZ" b="1" dirty="0"/>
              <a:t>Introduction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980728"/>
            <a:ext cx="8712968" cy="576064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Agriculture is a diverse, dynamic and vital land use in agreement with nature that provides countless economic and environmental benefits to a </a:t>
            </a:r>
            <a:r>
              <a:rPr lang="en-US" dirty="0" smtClean="0"/>
              <a:t>community</a:t>
            </a:r>
            <a:endParaRPr lang="en-US" dirty="0"/>
          </a:p>
          <a:p>
            <a:pPr algn="just"/>
            <a:r>
              <a:rPr lang="en-US" b="1" dirty="0"/>
              <a:t>Agricultural extension</a:t>
            </a:r>
            <a:r>
              <a:rPr lang="en-US" dirty="0"/>
              <a:t> is the application of scientific research and new knowledge to </a:t>
            </a:r>
            <a:r>
              <a:rPr lang="en-US" dirty="0">
                <a:hlinkClick r:id="rId2" tooltip="Agricultural"/>
              </a:rPr>
              <a:t>agricultural</a:t>
            </a:r>
            <a:r>
              <a:rPr lang="en-US" dirty="0"/>
              <a:t> practices through </a:t>
            </a:r>
            <a:r>
              <a:rPr lang="en-US" dirty="0">
                <a:hlinkClick r:id="rId3" tooltip="Farmer"/>
              </a:rPr>
              <a:t>farmer</a:t>
            </a:r>
            <a:r>
              <a:rPr lang="en-US" dirty="0"/>
              <a:t> </a:t>
            </a:r>
            <a:r>
              <a:rPr lang="en-US" dirty="0" smtClean="0">
                <a:hlinkClick r:id="rId4" tooltip="Education"/>
              </a:rPr>
              <a:t>education</a:t>
            </a:r>
            <a:endParaRPr lang="en-US" dirty="0"/>
          </a:p>
          <a:p>
            <a:pPr algn="just"/>
            <a:r>
              <a:rPr lang="en-US" dirty="0" smtClean="0"/>
              <a:t> </a:t>
            </a:r>
            <a:r>
              <a:rPr lang="en-US" dirty="0"/>
              <a:t>The field of 'extension' now encompasses a wider range of communication and learning activities organized for </a:t>
            </a:r>
            <a:r>
              <a:rPr lang="en-US" dirty="0">
                <a:hlinkClick r:id="rId5" tooltip="Rural area"/>
              </a:rPr>
              <a:t>rural</a:t>
            </a:r>
            <a:r>
              <a:rPr lang="en-US" dirty="0"/>
              <a:t> people by educators from different disciplines, including </a:t>
            </a:r>
            <a:r>
              <a:rPr lang="en-US" dirty="0">
                <a:hlinkClick r:id="rId6" tooltip="Agriculture"/>
              </a:rPr>
              <a:t>agriculture</a:t>
            </a:r>
            <a:r>
              <a:rPr lang="en-US" dirty="0"/>
              <a:t>, </a:t>
            </a:r>
            <a:r>
              <a:rPr lang="en-US" dirty="0">
                <a:hlinkClick r:id="rId7" tooltip="Agricultural marketing"/>
              </a:rPr>
              <a:t>agricultural marketing</a:t>
            </a:r>
            <a:r>
              <a:rPr lang="en-US" dirty="0"/>
              <a:t>, </a:t>
            </a:r>
            <a:r>
              <a:rPr lang="en-US" dirty="0">
                <a:hlinkClick r:id="rId8" tooltip="Health"/>
              </a:rPr>
              <a:t>health</a:t>
            </a:r>
            <a:r>
              <a:rPr lang="en-US" dirty="0"/>
              <a:t>, and </a:t>
            </a:r>
            <a:r>
              <a:rPr lang="en-US" dirty="0">
                <a:hlinkClick r:id="rId9" tooltip="Business studies"/>
              </a:rPr>
              <a:t>business </a:t>
            </a:r>
            <a:r>
              <a:rPr lang="en-US" dirty="0" smtClean="0">
                <a:hlinkClick r:id="rId9" tooltip="Business studies"/>
              </a:rPr>
              <a:t>studies</a:t>
            </a:r>
            <a:r>
              <a:rPr lang="en-US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43063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It is a significant social innovation, an important force in agricultural change, which has been created and recreated, adapted and developed over the </a:t>
            </a:r>
            <a:r>
              <a:rPr lang="en-US" dirty="0" smtClean="0"/>
              <a:t>centuries</a:t>
            </a:r>
          </a:p>
          <a:p>
            <a:pPr algn="just"/>
            <a:r>
              <a:rPr lang="en-US" dirty="0" smtClean="0"/>
              <a:t>Its </a:t>
            </a:r>
            <a:r>
              <a:rPr lang="en-US" dirty="0"/>
              <a:t>evolution extends over nearly four thousand years, although its modem forms are largely a product of the past two </a:t>
            </a:r>
            <a:r>
              <a:rPr lang="en-US" dirty="0" smtClean="0"/>
              <a:t>centuries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40223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Conference objectives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 smtClean="0"/>
              <a:t>To attract government attention and funding for Agriculture </a:t>
            </a:r>
            <a:r>
              <a:rPr lang="en-GB" dirty="0"/>
              <a:t>R</a:t>
            </a:r>
            <a:r>
              <a:rPr lang="en-GB" dirty="0" smtClean="0"/>
              <a:t>esearch </a:t>
            </a:r>
            <a:r>
              <a:rPr lang="en-GB" dirty="0" smtClean="0"/>
              <a:t>I</a:t>
            </a:r>
            <a:r>
              <a:rPr lang="en-GB" dirty="0" smtClean="0"/>
              <a:t>nstitutes.</a:t>
            </a:r>
          </a:p>
          <a:p>
            <a:r>
              <a:rPr lang="en-GB" dirty="0"/>
              <a:t>T</a:t>
            </a:r>
            <a:r>
              <a:rPr lang="en-GB" dirty="0" smtClean="0"/>
              <a:t>o commercialize research findings and innovations in Agriculture.</a:t>
            </a:r>
          </a:p>
          <a:p>
            <a:r>
              <a:rPr lang="en-GB" dirty="0" smtClean="0"/>
              <a:t>To showcase and identify innovations in optimizing Agriculture for sustainable development while attracting investors.</a:t>
            </a:r>
          </a:p>
          <a:p>
            <a:r>
              <a:rPr lang="en-GB" dirty="0" smtClean="0"/>
              <a:t>To facilitate opportunities for networking and collaboration with renowned leaders in the industry.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1101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Paper’s </a:t>
            </a:r>
            <a:r>
              <a:rPr lang="en-GB" dirty="0" smtClean="0"/>
              <a:t>Objective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dirty="0"/>
              <a:t> </a:t>
            </a:r>
            <a:r>
              <a:rPr lang="en-NZ" dirty="0" smtClean="0"/>
              <a:t>This </a:t>
            </a:r>
            <a:r>
              <a:rPr lang="en-NZ" dirty="0"/>
              <a:t>paper aims to open up several ways through which the different outcomes of scientific research reach farmers and the market </a:t>
            </a:r>
            <a:r>
              <a:rPr lang="en-NZ" dirty="0" smtClean="0"/>
              <a:t>place.</a:t>
            </a:r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59558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b="1" dirty="0"/>
              <a:t>Extension New Approaches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/>
          <a:lstStyle/>
          <a:p>
            <a:pPr algn="just"/>
            <a:r>
              <a:rPr lang="en-NZ" dirty="0"/>
              <a:t>Recent advances have given opportunity for improvements in the way farmers grow, store, transport, distribute, and consume </a:t>
            </a:r>
            <a:r>
              <a:rPr lang="en-NZ" dirty="0" smtClean="0"/>
              <a:t>food</a:t>
            </a:r>
          </a:p>
          <a:p>
            <a:pPr algn="just"/>
            <a:r>
              <a:rPr lang="en-NZ" dirty="0" smtClean="0"/>
              <a:t> </a:t>
            </a:r>
            <a:r>
              <a:rPr lang="en-NZ" dirty="0"/>
              <a:t>These advances can reach farmers through several </a:t>
            </a:r>
            <a:r>
              <a:rPr lang="en-NZ" dirty="0" smtClean="0"/>
              <a:t>means</a:t>
            </a:r>
          </a:p>
          <a:p>
            <a:pPr algn="just"/>
            <a:r>
              <a:rPr lang="en-US" dirty="0" smtClean="0"/>
              <a:t>To </a:t>
            </a:r>
            <a:r>
              <a:rPr lang="en-US" dirty="0"/>
              <a:t>train </a:t>
            </a:r>
            <a:r>
              <a:rPr lang="en-US" dirty="0" smtClean="0"/>
              <a:t>and impart skill to Farmers/others </a:t>
            </a:r>
            <a:r>
              <a:rPr lang="en-US" dirty="0"/>
              <a:t>for value chain development and sustainability in </a:t>
            </a:r>
            <a:r>
              <a:rPr lang="en-US" dirty="0" smtClean="0"/>
              <a:t>agro-industry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45764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How?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12776"/>
            <a:ext cx="9252520" cy="5256584"/>
          </a:xfrm>
        </p:spPr>
        <p:txBody>
          <a:bodyPr/>
          <a:lstStyle/>
          <a:p>
            <a:r>
              <a:rPr lang="en-NZ" dirty="0" smtClean="0"/>
              <a:t>Establishment </a:t>
            </a:r>
            <a:r>
              <a:rPr lang="en-NZ" dirty="0"/>
              <a:t>of agro enterprises</a:t>
            </a:r>
            <a:endParaRPr lang="en-US" dirty="0" smtClean="0"/>
          </a:p>
          <a:p>
            <a:pPr algn="just"/>
            <a:r>
              <a:rPr lang="en-NZ" dirty="0" smtClean="0"/>
              <a:t>partnership </a:t>
            </a:r>
            <a:r>
              <a:rPr lang="en-NZ" dirty="0"/>
              <a:t>between farmers and </a:t>
            </a:r>
            <a:r>
              <a:rPr lang="en-NZ" dirty="0" smtClean="0"/>
              <a:t>researchers</a:t>
            </a:r>
          </a:p>
          <a:p>
            <a:pPr algn="just"/>
            <a:r>
              <a:rPr lang="en-NZ" dirty="0" smtClean="0"/>
              <a:t> </a:t>
            </a:r>
            <a:r>
              <a:rPr lang="en-NZ" dirty="0"/>
              <a:t>This is because, agricultural knowledge and research are essential </a:t>
            </a:r>
          </a:p>
          <a:p>
            <a:pPr algn="just"/>
            <a:r>
              <a:rPr lang="en-NZ" dirty="0" smtClean="0"/>
              <a:t> </a:t>
            </a:r>
            <a:r>
              <a:rPr lang="en-NZ" dirty="0"/>
              <a:t>F</a:t>
            </a:r>
            <a:r>
              <a:rPr lang="en-NZ" dirty="0" smtClean="0"/>
              <a:t>armers </a:t>
            </a:r>
            <a:r>
              <a:rPr lang="en-NZ" dirty="0"/>
              <a:t>are at the centre of the innovation </a:t>
            </a:r>
            <a:r>
              <a:rPr lang="en-NZ" dirty="0" smtClean="0"/>
              <a:t>processes</a:t>
            </a:r>
          </a:p>
          <a:p>
            <a:pPr algn="just"/>
            <a:r>
              <a:rPr lang="en-NZ" dirty="0"/>
              <a:t>T</a:t>
            </a:r>
            <a:r>
              <a:rPr lang="en-NZ" dirty="0" smtClean="0"/>
              <a:t>hese </a:t>
            </a:r>
            <a:r>
              <a:rPr lang="en-NZ" dirty="0"/>
              <a:t>need to be incorporated in order to achieve the goal of reaching and impacting the desired beneficiaries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9041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How?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12776"/>
            <a:ext cx="9252520" cy="5256584"/>
          </a:xfrm>
        </p:spPr>
        <p:txBody>
          <a:bodyPr/>
          <a:lstStyle/>
          <a:p>
            <a:r>
              <a:rPr lang="en-NZ" dirty="0"/>
              <a:t>T</a:t>
            </a:r>
            <a:r>
              <a:rPr lang="en-NZ" dirty="0" smtClean="0"/>
              <a:t>he </a:t>
            </a:r>
            <a:r>
              <a:rPr lang="en-NZ" dirty="0"/>
              <a:t>use of information technology. Extension workers have used ICT tools like mobile phones, radio, television and also internet to expand their reach to rural </a:t>
            </a:r>
            <a:r>
              <a:rPr lang="en-NZ" dirty="0" smtClean="0"/>
              <a:t>farmers</a:t>
            </a:r>
          </a:p>
          <a:p>
            <a:r>
              <a:rPr lang="en-NZ" dirty="0" smtClean="0"/>
              <a:t> </a:t>
            </a:r>
            <a:r>
              <a:rPr lang="en-NZ" dirty="0"/>
              <a:t>These tools have been harnesses to communicate vital information to </a:t>
            </a:r>
            <a:r>
              <a:rPr lang="en-NZ" dirty="0" smtClean="0"/>
              <a:t>farmer</a:t>
            </a:r>
          </a:p>
          <a:p>
            <a:r>
              <a:rPr lang="en-NZ" dirty="0"/>
              <a:t>Extension officers have also helped to accelerate technology transfer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27582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How?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12776"/>
            <a:ext cx="9252520" cy="5256584"/>
          </a:xfrm>
        </p:spPr>
        <p:txBody>
          <a:bodyPr/>
          <a:lstStyle/>
          <a:p>
            <a:r>
              <a:rPr lang="en-NZ" dirty="0"/>
              <a:t>E</a:t>
            </a:r>
            <a:r>
              <a:rPr lang="en-NZ" dirty="0" smtClean="0"/>
              <a:t>xtension </a:t>
            </a:r>
            <a:r>
              <a:rPr lang="en-NZ" dirty="0"/>
              <a:t>officers help to facilitate the adoption of </a:t>
            </a:r>
            <a:r>
              <a:rPr lang="en-NZ" dirty="0" smtClean="0"/>
              <a:t>technologies and their </a:t>
            </a:r>
            <a:r>
              <a:rPr lang="en-NZ" dirty="0"/>
              <a:t>adaptation to local </a:t>
            </a:r>
            <a:r>
              <a:rPr lang="en-NZ" dirty="0" smtClean="0"/>
              <a:t>conditions</a:t>
            </a:r>
          </a:p>
          <a:p>
            <a:r>
              <a:rPr lang="en-NZ" dirty="0" smtClean="0"/>
              <a:t> </a:t>
            </a:r>
            <a:r>
              <a:rPr lang="en-NZ" dirty="0"/>
              <a:t>They also serve as bridges between the researchers developing research systems and the famers who may not be able to articulate their problems or </a:t>
            </a:r>
            <a:r>
              <a:rPr lang="en-NZ" dirty="0" smtClean="0"/>
              <a:t>constraints</a:t>
            </a:r>
          </a:p>
          <a:p>
            <a:r>
              <a:rPr lang="en-NZ" dirty="0"/>
              <a:t>The Training and Visit model of extension was a means to reach farmers promoted by the World Bank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4402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How?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12776"/>
            <a:ext cx="9252520" cy="5256584"/>
          </a:xfrm>
        </p:spPr>
        <p:txBody>
          <a:bodyPr/>
          <a:lstStyle/>
          <a:p>
            <a:r>
              <a:rPr lang="en-NZ" dirty="0"/>
              <a:t> It entails having a single line of command, with several levels of field and supervisory staff; in-house technical expertise, whereby subject matter specialists are to provide training to staff and tackle technical issues reported by field </a:t>
            </a:r>
            <a:r>
              <a:rPr lang="en-NZ" dirty="0" smtClean="0"/>
              <a:t>staff</a:t>
            </a:r>
          </a:p>
          <a:p>
            <a:r>
              <a:rPr lang="en-NZ" dirty="0" smtClean="0"/>
              <a:t> </a:t>
            </a:r>
            <a:r>
              <a:rPr lang="en-NZ" dirty="0"/>
              <a:t>Farmer Field School </a:t>
            </a:r>
            <a:r>
              <a:rPr lang="en-NZ" dirty="0" smtClean="0"/>
              <a:t>Model </a:t>
            </a:r>
          </a:p>
          <a:p>
            <a:r>
              <a:rPr lang="en-NZ" dirty="0" smtClean="0"/>
              <a:t>Through </a:t>
            </a:r>
            <a:r>
              <a:rPr lang="en-NZ" dirty="0"/>
              <a:t>group interactions, attendees sharpen their decision making abilities and are empowered by learning leadership, communication and management skill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6553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Summary of Approaches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lvl="0"/>
            <a:r>
              <a:rPr lang="en-US" dirty="0"/>
              <a:t>Diverse top-down extension: After independence, commodity-based extension services emerged from the remnants of the colonial system, with production targets established as part of five-year development plans. In addition, various schemes were initiated to meet the needs of small farmers, with support from foreign </a:t>
            </a:r>
            <a:r>
              <a:rPr lang="en-US" dirty="0" smtClean="0"/>
              <a:t>donors</a:t>
            </a:r>
            <a:endParaRPr lang="en-US" dirty="0"/>
          </a:p>
          <a:p>
            <a:pPr lvl="0"/>
            <a:r>
              <a:rPr lang="en-US" dirty="0"/>
              <a:t>Unified top-down extension: During the 1970s and 1980s, the Training and Visit system (T&amp;V) was introduced by the </a:t>
            </a:r>
            <a:r>
              <a:rPr lang="en-US" b="1" dirty="0">
                <a:hlinkClick r:id="rId2" tooltip="World Bank"/>
              </a:rPr>
              <a:t>World Bank</a:t>
            </a:r>
            <a:r>
              <a:rPr lang="en-US" dirty="0"/>
              <a:t>. Existing organizations were merged into a single national service. Regular messages were delivered to groups of farmers, promoting the adoption of </a:t>
            </a:r>
            <a:r>
              <a:rPr lang="en-US" b="1" dirty="0"/>
              <a:t>"</a:t>
            </a:r>
            <a:r>
              <a:rPr lang="en-US" b="1" dirty="0">
                <a:hlinkClick r:id="rId3" tooltip="Green Revolution"/>
              </a:rPr>
              <a:t>Green Revolution</a:t>
            </a:r>
            <a:r>
              <a:rPr lang="en-US" b="1" dirty="0"/>
              <a:t>"</a:t>
            </a:r>
            <a:r>
              <a:rPr lang="en-US" dirty="0"/>
              <a:t> </a:t>
            </a:r>
            <a:r>
              <a:rPr lang="en-US" dirty="0" smtClean="0"/>
              <a:t>technologies</a:t>
            </a:r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2776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Summary of Approaches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dirty="0"/>
          </a:p>
          <a:p>
            <a:pPr lvl="0"/>
            <a:r>
              <a:rPr lang="en-US" dirty="0"/>
              <a:t>Diverse bottom-up extension: When World Bank funding came to an end, the T&amp;V system collapsed in many countries, leaving behind a patchwork of programs and projects funded from various other sources. The decline of central planning, combined with a growing concern for </a:t>
            </a:r>
            <a:r>
              <a:rPr lang="en-US" b="1" dirty="0">
                <a:hlinkClick r:id="rId2" tooltip="Sustainability"/>
              </a:rPr>
              <a:t>sustainability</a:t>
            </a:r>
            <a:r>
              <a:rPr lang="en-US" dirty="0"/>
              <a:t> and equity, has resulted in participatory methods gradually replacing top-down approaches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88188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1"/>
            <a:r>
              <a:rPr lang="en-US" b="1" dirty="0" smtClean="0"/>
              <a:t> </a:t>
            </a:r>
            <a:endParaRPr lang="en-GB" b="1" dirty="0"/>
          </a:p>
        </p:txBody>
      </p:sp>
      <p:sp>
        <p:nvSpPr>
          <p:cNvPr id="8" name="Rectangle 7"/>
          <p:cNvSpPr/>
          <p:nvPr/>
        </p:nvSpPr>
        <p:spPr>
          <a:xfrm>
            <a:off x="2286000" y="3105835"/>
            <a:ext cx="4572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NZ" b="1" dirty="0" smtClean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NZ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NZ" b="1" dirty="0" smtClean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NZ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NZ" b="1" dirty="0" smtClean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NZ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NZ" b="1" dirty="0" smtClean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NZ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NZ" b="1" dirty="0" smtClean="0"/>
              <a:t>Fig.  1:  </a:t>
            </a:r>
            <a:r>
              <a:rPr lang="en-NZ" b="1" dirty="0"/>
              <a:t>Research Extension –Research Outcomes Actors</a:t>
            </a:r>
            <a:endParaRPr lang="en-US" dirty="0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4023" y="1617410"/>
            <a:ext cx="5175953" cy="3395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35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600200"/>
            <a:ext cx="8856984" cy="5257800"/>
          </a:xfrm>
        </p:spPr>
        <p:txBody>
          <a:bodyPr>
            <a:normAutofit/>
          </a:bodyPr>
          <a:lstStyle/>
          <a:p>
            <a:pPr algn="just"/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679" y="1611558"/>
            <a:ext cx="5964642" cy="4769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280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Paradigms of </a:t>
            </a:r>
            <a:r>
              <a:rPr lang="en-US" b="1" dirty="0" smtClean="0"/>
              <a:t>Agricultural </a:t>
            </a:r>
            <a:r>
              <a:rPr lang="en-US" b="1" dirty="0"/>
              <a:t>E</a:t>
            </a:r>
            <a:r>
              <a:rPr lang="en-US" b="1" dirty="0" smtClean="0"/>
              <a:t>xtension</a:t>
            </a:r>
            <a:r>
              <a:rPr lang="en-US" dirty="0"/>
              <a:t/>
            </a:r>
            <a:br>
              <a:rPr lang="en-US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68760"/>
            <a:ext cx="8964488" cy="4857403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lang="en-US" dirty="0"/>
              <a:t>Technology transfer (persuasive + paternalistic): This paradigm was prevalent in colonial times and reappeared in the 1970s and 1980s when the "Training and Visit" system was established across </a:t>
            </a:r>
            <a:r>
              <a:rPr lang="en-US" dirty="0" smtClean="0"/>
              <a:t>Asia</a:t>
            </a:r>
          </a:p>
          <a:p>
            <a:pPr lvl="0"/>
            <a:r>
              <a:rPr lang="en-US" dirty="0" smtClean="0"/>
              <a:t>Technology </a:t>
            </a:r>
            <a:r>
              <a:rPr lang="en-US" dirty="0"/>
              <a:t>transfer involves a top-down approach that delivers specific recommendations to farmers about the practices they should adopt.</a:t>
            </a:r>
          </a:p>
          <a:p>
            <a:pPr lvl="0"/>
            <a:r>
              <a:rPr lang="en-US" dirty="0"/>
              <a:t>Advisory work (persuasive + participatory): This paradigm can be seen today where government organizations or private consulting companies respond to farmers' inquiries with technical </a:t>
            </a:r>
            <a:r>
              <a:rPr lang="en-US" dirty="0" smtClean="0"/>
              <a:t>prescriptions</a:t>
            </a:r>
          </a:p>
          <a:p>
            <a:pPr lvl="0"/>
            <a:r>
              <a:rPr lang="en-US" dirty="0" smtClean="0"/>
              <a:t> </a:t>
            </a:r>
            <a:r>
              <a:rPr lang="en-US" dirty="0"/>
              <a:t>It also takes the form of projects managed by donor agencies and NGOs that use participatory approaches to promote predetermined packages of technology.</a:t>
            </a:r>
          </a:p>
        </p:txBody>
      </p:sp>
    </p:spTree>
    <p:extLst>
      <p:ext uri="{BB962C8B-B14F-4D97-AF65-F5344CB8AC3E}">
        <p14:creationId xmlns:p14="http://schemas.microsoft.com/office/powerpoint/2010/main" val="1849403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Paradigms of </a:t>
            </a:r>
            <a:r>
              <a:rPr lang="en-US" b="1" dirty="0" smtClean="0"/>
              <a:t>Agricultural </a:t>
            </a:r>
            <a:r>
              <a:rPr lang="en-US" b="1" dirty="0"/>
              <a:t>E</a:t>
            </a:r>
            <a:r>
              <a:rPr lang="en-US" b="1" dirty="0" smtClean="0"/>
              <a:t>xtension</a:t>
            </a:r>
            <a:r>
              <a:rPr lang="en-US" dirty="0"/>
              <a:t/>
            </a:r>
            <a:br>
              <a:rPr lang="en-US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68760"/>
            <a:ext cx="8964488" cy="4857403"/>
          </a:xfrm>
        </p:spPr>
        <p:txBody>
          <a:bodyPr>
            <a:normAutofit fontScale="70000" lnSpcReduction="20000"/>
          </a:bodyPr>
          <a:lstStyle/>
          <a:p>
            <a:pPr lvl="0"/>
            <a:r>
              <a:rPr lang="en-US" dirty="0"/>
              <a:t>Human resource development (educational + paternalistic): This paradigm dominated the earliest days of extension in Europe and North America, when universities gave training to rural people who were too poor to attend full-time </a:t>
            </a:r>
            <a:r>
              <a:rPr lang="en-US" dirty="0" smtClean="0"/>
              <a:t>courses</a:t>
            </a:r>
          </a:p>
          <a:p>
            <a:pPr lvl="0"/>
            <a:r>
              <a:rPr lang="en-US" dirty="0" smtClean="0"/>
              <a:t> </a:t>
            </a:r>
            <a:r>
              <a:rPr lang="en-US" dirty="0"/>
              <a:t>It continues today in the outreach activities of colleges around the </a:t>
            </a:r>
            <a:r>
              <a:rPr lang="en-US" dirty="0" smtClean="0"/>
              <a:t>world.</a:t>
            </a:r>
          </a:p>
          <a:p>
            <a:pPr lvl="0"/>
            <a:r>
              <a:rPr lang="en-US" dirty="0" smtClean="0"/>
              <a:t>Top-down </a:t>
            </a:r>
            <a:r>
              <a:rPr lang="en-US" dirty="0"/>
              <a:t>teaching methods are employed, but students are expected to make their own decisions about how to use the knowledge they acquire.</a:t>
            </a:r>
          </a:p>
          <a:p>
            <a:pPr lvl="0"/>
            <a:r>
              <a:rPr lang="en-US" dirty="0"/>
              <a:t>Facilitation for </a:t>
            </a:r>
            <a:r>
              <a:rPr lang="en-US" dirty="0">
                <a:hlinkClick r:id="rId2" tooltip="Empowerment"/>
              </a:rPr>
              <a:t>empowerment</a:t>
            </a:r>
            <a:r>
              <a:rPr lang="en-US" dirty="0"/>
              <a:t> (educational + participatory): This paradigm involves methods such as </a:t>
            </a:r>
            <a:r>
              <a:rPr lang="en-US" dirty="0">
                <a:hlinkClick r:id="rId3" tooltip="Experiential learning"/>
              </a:rPr>
              <a:t>experiential learning</a:t>
            </a:r>
            <a:r>
              <a:rPr lang="en-US" dirty="0"/>
              <a:t> and farmer-to-farmer </a:t>
            </a:r>
            <a:r>
              <a:rPr lang="en-US" dirty="0" smtClean="0"/>
              <a:t>exchanges</a:t>
            </a:r>
          </a:p>
          <a:p>
            <a:pPr lvl="0"/>
            <a:r>
              <a:rPr lang="en-US" dirty="0" smtClean="0"/>
              <a:t> </a:t>
            </a:r>
            <a:r>
              <a:rPr lang="en-US" dirty="0"/>
              <a:t>Knowledge is gained through interactive processes and the participants are encouraged to make their own </a:t>
            </a:r>
            <a:r>
              <a:rPr lang="en-US" dirty="0" smtClean="0"/>
              <a:t>decisions.</a:t>
            </a:r>
          </a:p>
          <a:p>
            <a:pPr lvl="0"/>
            <a:r>
              <a:rPr lang="en-US" dirty="0" smtClean="0"/>
              <a:t>The </a:t>
            </a:r>
            <a:r>
              <a:rPr lang="en-US" dirty="0"/>
              <a:t>best known examples in Asia are projects that use </a:t>
            </a:r>
            <a:r>
              <a:rPr lang="en-US" dirty="0">
                <a:hlinkClick r:id="rId4" tooltip="Farmer Field Schools"/>
              </a:rPr>
              <a:t>Farmer Field Schools</a:t>
            </a:r>
            <a:r>
              <a:rPr lang="en-US" dirty="0"/>
              <a:t> (FFS) or </a:t>
            </a:r>
            <a:r>
              <a:rPr lang="en-US" dirty="0">
                <a:hlinkClick r:id="rId5" tooltip="Participatory technology development"/>
              </a:rPr>
              <a:t>participatory technology development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58402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Emerging Paradigm</a:t>
            </a:r>
            <a:endParaRPr lang="en-GB" dirty="0"/>
          </a:p>
        </p:txBody>
      </p:sp>
      <p:pic>
        <p:nvPicPr>
          <p:cNvPr id="4" name="Content Placeholder 3" descr="Changing demands in Extension…&#10;Top down to Bottom up Approach&#10;Donor Accountable to Farmer Accountable&#10;Input intensive to K...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5575" y="1817687"/>
            <a:ext cx="6076950" cy="45624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30643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Agricultural Extension Planning Process </a:t>
            </a:r>
            <a:endParaRPr lang="en-GB" dirty="0"/>
          </a:p>
        </p:txBody>
      </p:sp>
      <p:pic>
        <p:nvPicPr>
          <p:cNvPr id="35" name="Content Placeholder 3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9564" y="1340768"/>
            <a:ext cx="5944872" cy="4338372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2286000" y="3086471"/>
            <a:ext cx="4572000" cy="335232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07000"/>
              </a:lnSpc>
              <a:spcAft>
                <a:spcPts val="0"/>
              </a:spcAft>
              <a:tabLst>
                <a:tab pos="270510" algn="l"/>
                <a:tab pos="540385" algn="l"/>
                <a:tab pos="630555" algn="l"/>
              </a:tabLst>
            </a:pPr>
            <a:endParaRPr lang="en-US" b="1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  <a:tabLst>
                <a:tab pos="270510" algn="l"/>
                <a:tab pos="540385" algn="l"/>
                <a:tab pos="630555" algn="l"/>
              </a:tabLst>
            </a:pPr>
            <a:endParaRPr lang="en-US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  <a:tabLst>
                <a:tab pos="270510" algn="l"/>
                <a:tab pos="540385" algn="l"/>
                <a:tab pos="630555" algn="l"/>
              </a:tabLst>
            </a:pPr>
            <a:endParaRPr lang="en-US" b="1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  <a:tabLst>
                <a:tab pos="270510" algn="l"/>
                <a:tab pos="540385" algn="l"/>
                <a:tab pos="630555" algn="l"/>
              </a:tabLst>
            </a:pPr>
            <a:endParaRPr lang="en-US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  <a:tabLst>
                <a:tab pos="270510" algn="l"/>
                <a:tab pos="540385" algn="l"/>
                <a:tab pos="630555" algn="l"/>
              </a:tabLst>
            </a:pPr>
            <a:endParaRPr lang="en-US" b="1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  <a:tabLst>
                <a:tab pos="270510" algn="l"/>
                <a:tab pos="540385" algn="l"/>
                <a:tab pos="630555" algn="l"/>
              </a:tabLst>
            </a:pPr>
            <a:endParaRPr lang="en-US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  <a:tabLst>
                <a:tab pos="270510" algn="l"/>
                <a:tab pos="540385" algn="l"/>
                <a:tab pos="630555" algn="l"/>
              </a:tabLst>
            </a:pPr>
            <a:endParaRPr lang="en-US" b="1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  <a:tabLst>
                <a:tab pos="270510" algn="l"/>
                <a:tab pos="540385" algn="l"/>
                <a:tab pos="630555" algn="l"/>
              </a:tabLst>
            </a:pPr>
            <a:endParaRPr lang="en-US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  <a:tabLst>
                <a:tab pos="270510" algn="l"/>
                <a:tab pos="540385" algn="l"/>
                <a:tab pos="630555" algn="l"/>
              </a:tabLst>
            </a:pPr>
            <a:endParaRPr lang="en-US" b="1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  <a:tabLst>
                <a:tab pos="270510" algn="l"/>
                <a:tab pos="540385" algn="l"/>
                <a:tab pos="630555" algn="l"/>
              </a:tabLst>
            </a:pPr>
            <a:r>
              <a:rPr lang="en-US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5:  Programme Planning Process Model (Adapted from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Ani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2007)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5754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On- </a:t>
            </a:r>
            <a:r>
              <a:rPr lang="en-US" b="1" dirty="0" smtClean="0"/>
              <a:t>Station </a:t>
            </a:r>
            <a:r>
              <a:rPr lang="en-US" b="1" dirty="0"/>
              <a:t>Trials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6962" y="2442690"/>
            <a:ext cx="5310076" cy="2840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507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On- Farm Trials</a:t>
            </a:r>
            <a:endParaRPr lang="en-US" dirty="0"/>
          </a:p>
        </p:txBody>
      </p:sp>
      <p:pic>
        <p:nvPicPr>
          <p:cNvPr id="5" name="Content Placeholder 4" descr="http://www.fao.org/Wairdocs/ILRI/x5545E/x5545e1n.gif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8668" y="1758156"/>
            <a:ext cx="7606665" cy="421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7314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 </a:t>
            </a:r>
            <a:r>
              <a:rPr lang="en-US" sz="3600" b="1" dirty="0"/>
              <a:t>The involvement of extension agencies is essential during on-farm </a:t>
            </a:r>
            <a:r>
              <a:rPr lang="en-US" sz="3600" b="1" dirty="0" smtClean="0"/>
              <a:t>trials: </a:t>
            </a:r>
            <a:r>
              <a:rPr lang="en-US" sz="3600" b="1" dirty="0"/>
              <a:t>Adapted from Atta-</a:t>
            </a:r>
            <a:r>
              <a:rPr lang="en-US" sz="3600" b="1" dirty="0" err="1"/>
              <a:t>krah</a:t>
            </a:r>
            <a:r>
              <a:rPr lang="en-US" sz="3600" b="1" dirty="0"/>
              <a:t>, 1987</a:t>
            </a:r>
            <a:r>
              <a:rPr lang="en-US" sz="3600" dirty="0"/>
              <a:t/>
            </a:r>
            <a:br>
              <a:rPr lang="en-US" sz="3600" dirty="0"/>
            </a:br>
            <a:endParaRPr lang="en-US" sz="3600" dirty="0"/>
          </a:p>
        </p:txBody>
      </p:sp>
      <p:pic>
        <p:nvPicPr>
          <p:cNvPr id="7" name="Content Placeholder 6" descr="http://www.fao.org/Wairdocs/ILRI/x5545E/x5545e1p.gif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3137" y="1533709"/>
            <a:ext cx="7677725" cy="46589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719767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Conclusion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However, if the farmer had a rationale for the modification, the researcher should look at the new system carefully, and discuss with the farmer the possible harms and </a:t>
            </a:r>
            <a:r>
              <a:rPr lang="en-US" dirty="0" smtClean="0"/>
              <a:t>benefits</a:t>
            </a:r>
          </a:p>
          <a:p>
            <a:r>
              <a:rPr lang="en-US" dirty="0" smtClean="0"/>
              <a:t>The </a:t>
            </a:r>
            <a:r>
              <a:rPr lang="en-US" dirty="0"/>
              <a:t>farmer may be modifying the system to better achieve his/her own objectives, while not harming crop productivity or long-term sustainability </a:t>
            </a:r>
            <a:endParaRPr lang="en-US" dirty="0" smtClean="0"/>
          </a:p>
          <a:p>
            <a:r>
              <a:rPr lang="en-US" dirty="0" smtClean="0"/>
              <a:t>Through </a:t>
            </a:r>
            <a:r>
              <a:rPr lang="en-US" dirty="0"/>
              <a:t>this sort of interaction, researchable issues can emerge and suggest new directions for on-station and/or on-farm </a:t>
            </a:r>
            <a:r>
              <a:rPr lang="en-US" dirty="0" smtClean="0"/>
              <a:t>trial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928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 smtClean="0"/>
          </a:p>
          <a:p>
            <a:pPr marL="0" indent="0" algn="ctr">
              <a:buNone/>
            </a:pPr>
            <a:r>
              <a:rPr lang="en-GB" sz="4400" b="1" dirty="0" smtClean="0"/>
              <a:t>Many Thanks for Listening</a:t>
            </a:r>
            <a:endParaRPr lang="en-GB" sz="4400" b="1" dirty="0"/>
          </a:p>
        </p:txBody>
      </p:sp>
    </p:spTree>
    <p:extLst>
      <p:ext uri="{BB962C8B-B14F-4D97-AF65-F5344CB8AC3E}">
        <p14:creationId xmlns:p14="http://schemas.microsoft.com/office/powerpoint/2010/main" val="2539973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1137</Words>
  <Application>Microsoft Office PowerPoint</Application>
  <PresentationFormat>On-screen Show (4:3)</PresentationFormat>
  <Paragraphs>103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Times New Roman</vt:lpstr>
      <vt:lpstr>Office Theme</vt:lpstr>
      <vt:lpstr>RESEARCH AND INNOVATION: HOW RESEARCH OUTCOMES REACH FARMERS AND MARKET PLACE</vt:lpstr>
      <vt:lpstr>Contents of Discussion</vt:lpstr>
      <vt:lpstr>Introduction</vt:lpstr>
      <vt:lpstr>PowerPoint Presentation</vt:lpstr>
      <vt:lpstr>Conference objectives</vt:lpstr>
      <vt:lpstr>Paper’s Objective</vt:lpstr>
      <vt:lpstr>Extension New Approaches</vt:lpstr>
      <vt:lpstr>How?</vt:lpstr>
      <vt:lpstr>How?</vt:lpstr>
      <vt:lpstr>How?</vt:lpstr>
      <vt:lpstr>How?</vt:lpstr>
      <vt:lpstr>Summary of Approaches</vt:lpstr>
      <vt:lpstr>Summary of Approaches</vt:lpstr>
      <vt:lpstr> </vt:lpstr>
      <vt:lpstr>PowerPoint Presentation</vt:lpstr>
      <vt:lpstr>Paradigms of Agricultural Extension </vt:lpstr>
      <vt:lpstr>Paradigms of Agricultural Extension </vt:lpstr>
      <vt:lpstr>Emerging Paradigm</vt:lpstr>
      <vt:lpstr>Agricultural Extension Planning Process </vt:lpstr>
      <vt:lpstr>On- Station Trials</vt:lpstr>
      <vt:lpstr>On- Farm Trials</vt:lpstr>
      <vt:lpstr> The involvement of extension agencies is essential during on-farm trials: Adapted from Atta-krah, 1987 </vt:lpstr>
      <vt:lpstr>Conclusion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AGRICULTURAL ECONOMICS AND ENVIRONMENTAL POLICY</dc:title>
  <dc:creator>Reviewer</dc:creator>
  <cp:lastModifiedBy>lucy omobolanle ogunsumi</cp:lastModifiedBy>
  <cp:revision>46</cp:revision>
  <dcterms:created xsi:type="dcterms:W3CDTF">2017-09-12T18:31:36Z</dcterms:created>
  <dcterms:modified xsi:type="dcterms:W3CDTF">2019-10-24T09:56:14Z</dcterms:modified>
</cp:coreProperties>
</file>